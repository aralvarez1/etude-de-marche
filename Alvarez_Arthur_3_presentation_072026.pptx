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2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83" r:id="rId13"/>
    <p:sldId id="268" r:id="rId14"/>
    <p:sldId id="269" r:id="rId15"/>
    <p:sldId id="281" r:id="rId16"/>
    <p:sldId id="270" r:id="rId17"/>
    <p:sldId id="271" r:id="rId18"/>
    <p:sldId id="272" r:id="rId19"/>
    <p:sldId id="273" r:id="rId20"/>
    <p:sldId id="274" r:id="rId21"/>
    <p:sldId id="278" r:id="rId22"/>
    <p:sldId id="279" r:id="rId23"/>
    <p:sldId id="275" r:id="rId24"/>
    <p:sldId id="276" r:id="rId25"/>
    <p:sldId id="280" r:id="rId2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E856866-F070-4A4B-9968-F7B1988FE04D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A75B82F-76B5-4303-B8BA-609B333831DB}">
      <dgm:prSet/>
      <dgm:spPr/>
      <dgm:t>
        <a:bodyPr/>
        <a:lstStyle/>
        <a:p>
          <a:r>
            <a:rPr lang="fr-FR"/>
            <a:t>Contexte</a:t>
          </a:r>
          <a:endParaRPr lang="en-US"/>
        </a:p>
      </dgm:t>
    </dgm:pt>
    <dgm:pt modelId="{DB493130-9FB7-44FA-998F-5AB0F29D0026}" type="parTrans" cxnId="{E01C17B4-DA06-4CCB-9523-B9DF0EAAEEBC}">
      <dgm:prSet/>
      <dgm:spPr/>
      <dgm:t>
        <a:bodyPr/>
        <a:lstStyle/>
        <a:p>
          <a:endParaRPr lang="en-US"/>
        </a:p>
      </dgm:t>
    </dgm:pt>
    <dgm:pt modelId="{3EA82A5C-AC5E-4A6B-B301-F7F5A67711D3}" type="sibTrans" cxnId="{E01C17B4-DA06-4CCB-9523-B9DF0EAAEEBC}">
      <dgm:prSet/>
      <dgm:spPr/>
      <dgm:t>
        <a:bodyPr/>
        <a:lstStyle/>
        <a:p>
          <a:endParaRPr lang="en-US"/>
        </a:p>
      </dgm:t>
    </dgm:pt>
    <dgm:pt modelId="{26FA0DFD-B334-4FC1-9E7B-6FC5D1C21664}">
      <dgm:prSet/>
      <dgm:spPr/>
      <dgm:t>
        <a:bodyPr/>
        <a:lstStyle/>
        <a:p>
          <a:r>
            <a:rPr lang="fr-FR"/>
            <a:t>Méthodologie de collecte</a:t>
          </a:r>
          <a:endParaRPr lang="en-US"/>
        </a:p>
      </dgm:t>
    </dgm:pt>
    <dgm:pt modelId="{BF44F2DC-CA7D-41F6-865D-5538EA6BE2F6}" type="parTrans" cxnId="{BCE79D5A-E308-4165-8D59-40CE5F0A17E3}">
      <dgm:prSet/>
      <dgm:spPr/>
      <dgm:t>
        <a:bodyPr/>
        <a:lstStyle/>
        <a:p>
          <a:endParaRPr lang="en-US"/>
        </a:p>
      </dgm:t>
    </dgm:pt>
    <dgm:pt modelId="{37BDCDB1-6CDE-4197-AF83-2BCADABE3EC8}" type="sibTrans" cxnId="{BCE79D5A-E308-4165-8D59-40CE5F0A17E3}">
      <dgm:prSet/>
      <dgm:spPr/>
      <dgm:t>
        <a:bodyPr/>
        <a:lstStyle/>
        <a:p>
          <a:endParaRPr lang="en-US"/>
        </a:p>
      </dgm:t>
    </dgm:pt>
    <dgm:pt modelId="{BD3554C6-7C65-4F78-8338-154FB619A310}">
      <dgm:prSet/>
      <dgm:spPr/>
      <dgm:t>
        <a:bodyPr/>
        <a:lstStyle/>
        <a:p>
          <a:r>
            <a:rPr lang="fr-FR"/>
            <a:t>Traitement </a:t>
          </a:r>
          <a:endParaRPr lang="en-US"/>
        </a:p>
      </dgm:t>
    </dgm:pt>
    <dgm:pt modelId="{A9AAC1FB-0906-490B-952B-5BE81186E17B}" type="parTrans" cxnId="{BA2685D2-883C-4139-9FBD-E114C667B53A}">
      <dgm:prSet/>
      <dgm:spPr/>
      <dgm:t>
        <a:bodyPr/>
        <a:lstStyle/>
        <a:p>
          <a:endParaRPr lang="en-US"/>
        </a:p>
      </dgm:t>
    </dgm:pt>
    <dgm:pt modelId="{7F9D0251-0D78-4983-8F19-9A4CDA6BB329}" type="sibTrans" cxnId="{BA2685D2-883C-4139-9FBD-E114C667B53A}">
      <dgm:prSet/>
      <dgm:spPr/>
      <dgm:t>
        <a:bodyPr/>
        <a:lstStyle/>
        <a:p>
          <a:endParaRPr lang="en-US"/>
        </a:p>
      </dgm:t>
    </dgm:pt>
    <dgm:pt modelId="{56CECC01-8367-41EE-96AC-1E04D192A82A}">
      <dgm:prSet/>
      <dgm:spPr/>
      <dgm:t>
        <a:bodyPr/>
        <a:lstStyle/>
        <a:p>
          <a:r>
            <a:rPr lang="fr-FR"/>
            <a:t>Analyses</a:t>
          </a:r>
          <a:endParaRPr lang="en-US"/>
        </a:p>
      </dgm:t>
    </dgm:pt>
    <dgm:pt modelId="{577606EB-8800-4BF6-928E-DAAD17EF809E}" type="parTrans" cxnId="{6495394E-E46C-4110-81FB-A1AA90F9A4EC}">
      <dgm:prSet/>
      <dgm:spPr/>
      <dgm:t>
        <a:bodyPr/>
        <a:lstStyle/>
        <a:p>
          <a:endParaRPr lang="en-US"/>
        </a:p>
      </dgm:t>
    </dgm:pt>
    <dgm:pt modelId="{39FA2289-FD91-4647-B3C0-D943418EB21E}" type="sibTrans" cxnId="{6495394E-E46C-4110-81FB-A1AA90F9A4EC}">
      <dgm:prSet/>
      <dgm:spPr/>
      <dgm:t>
        <a:bodyPr/>
        <a:lstStyle/>
        <a:p>
          <a:endParaRPr lang="en-US"/>
        </a:p>
      </dgm:t>
    </dgm:pt>
    <dgm:pt modelId="{8DDB7E0C-8B65-4013-A561-F939A0BACF28}">
      <dgm:prSet/>
      <dgm:spPr/>
      <dgm:t>
        <a:bodyPr/>
        <a:lstStyle/>
        <a:p>
          <a:r>
            <a:rPr lang="fr-FR"/>
            <a:t>Préconisations de pays</a:t>
          </a:r>
          <a:endParaRPr lang="en-US"/>
        </a:p>
      </dgm:t>
    </dgm:pt>
    <dgm:pt modelId="{C1DFB6F1-DAAF-4D57-B72D-340C05106BF2}" type="parTrans" cxnId="{F564FA51-34A4-44A0-BD05-A2172C0D143D}">
      <dgm:prSet/>
      <dgm:spPr/>
      <dgm:t>
        <a:bodyPr/>
        <a:lstStyle/>
        <a:p>
          <a:endParaRPr lang="en-US"/>
        </a:p>
      </dgm:t>
    </dgm:pt>
    <dgm:pt modelId="{5E5F0BB4-92FA-42DC-B8D8-5FA9452EDE0C}" type="sibTrans" cxnId="{F564FA51-34A4-44A0-BD05-A2172C0D143D}">
      <dgm:prSet/>
      <dgm:spPr/>
      <dgm:t>
        <a:bodyPr/>
        <a:lstStyle/>
        <a:p>
          <a:endParaRPr lang="en-US"/>
        </a:p>
      </dgm:t>
    </dgm:pt>
    <dgm:pt modelId="{E8BE0441-8468-4AB6-8412-344C0F133F83}" type="pres">
      <dgm:prSet presAssocID="{6E856866-F070-4A4B-9968-F7B1988FE04D}" presName="linear" presStyleCnt="0">
        <dgm:presLayoutVars>
          <dgm:animLvl val="lvl"/>
          <dgm:resizeHandles val="exact"/>
        </dgm:presLayoutVars>
      </dgm:prSet>
      <dgm:spPr/>
    </dgm:pt>
    <dgm:pt modelId="{91528E30-30B2-40C4-9A78-892FDA7B667F}" type="pres">
      <dgm:prSet presAssocID="{BA75B82F-76B5-4303-B8BA-609B333831DB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1C0828AA-C04B-4488-84AE-D4D6FF589DF9}" type="pres">
      <dgm:prSet presAssocID="{3EA82A5C-AC5E-4A6B-B301-F7F5A67711D3}" presName="spacer" presStyleCnt="0"/>
      <dgm:spPr/>
    </dgm:pt>
    <dgm:pt modelId="{57A9B8A8-CCD2-4A33-8795-7432921B7DAA}" type="pres">
      <dgm:prSet presAssocID="{26FA0DFD-B334-4FC1-9E7B-6FC5D1C2166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BF54885-26D7-4307-8705-6A97B68AD5C8}" type="pres">
      <dgm:prSet presAssocID="{37BDCDB1-6CDE-4197-AF83-2BCADABE3EC8}" presName="spacer" presStyleCnt="0"/>
      <dgm:spPr/>
    </dgm:pt>
    <dgm:pt modelId="{B63995B5-51B2-49EE-B7F3-F4B55A401375}" type="pres">
      <dgm:prSet presAssocID="{BD3554C6-7C65-4F78-8338-154FB619A31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53390CC-0008-46BB-9C55-7FA5AC6F46BD}" type="pres">
      <dgm:prSet presAssocID="{7F9D0251-0D78-4983-8F19-9A4CDA6BB329}" presName="spacer" presStyleCnt="0"/>
      <dgm:spPr/>
    </dgm:pt>
    <dgm:pt modelId="{D80776EB-B6F5-4193-A02F-D700BA78146A}" type="pres">
      <dgm:prSet presAssocID="{56CECC01-8367-41EE-96AC-1E04D192A82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D4D193D-3F9F-4998-8BAB-B2348D054990}" type="pres">
      <dgm:prSet presAssocID="{39FA2289-FD91-4647-B3C0-D943418EB21E}" presName="spacer" presStyleCnt="0"/>
      <dgm:spPr/>
    </dgm:pt>
    <dgm:pt modelId="{910C243A-E292-4182-BBD4-CF0DC17E25EB}" type="pres">
      <dgm:prSet presAssocID="{8DDB7E0C-8B65-4013-A561-F939A0BACF28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AF40D25F-E029-422C-9CC8-C589BB23942D}" type="presOf" srcId="{56CECC01-8367-41EE-96AC-1E04D192A82A}" destId="{D80776EB-B6F5-4193-A02F-D700BA78146A}" srcOrd="0" destOrd="0" presId="urn:microsoft.com/office/officeart/2005/8/layout/vList2"/>
    <dgm:cxn modelId="{6495394E-E46C-4110-81FB-A1AA90F9A4EC}" srcId="{6E856866-F070-4A4B-9968-F7B1988FE04D}" destId="{56CECC01-8367-41EE-96AC-1E04D192A82A}" srcOrd="3" destOrd="0" parTransId="{577606EB-8800-4BF6-928E-DAAD17EF809E}" sibTransId="{39FA2289-FD91-4647-B3C0-D943418EB21E}"/>
    <dgm:cxn modelId="{F564FA51-34A4-44A0-BD05-A2172C0D143D}" srcId="{6E856866-F070-4A4B-9968-F7B1988FE04D}" destId="{8DDB7E0C-8B65-4013-A561-F939A0BACF28}" srcOrd="4" destOrd="0" parTransId="{C1DFB6F1-DAAF-4D57-B72D-340C05106BF2}" sibTransId="{5E5F0BB4-92FA-42DC-B8D8-5FA9452EDE0C}"/>
    <dgm:cxn modelId="{D2543173-8145-4311-A49E-C3F8F3990CD5}" type="presOf" srcId="{26FA0DFD-B334-4FC1-9E7B-6FC5D1C21664}" destId="{57A9B8A8-CCD2-4A33-8795-7432921B7DAA}" srcOrd="0" destOrd="0" presId="urn:microsoft.com/office/officeart/2005/8/layout/vList2"/>
    <dgm:cxn modelId="{576CA157-C841-4A60-9B21-77B6911A3CCE}" type="presOf" srcId="{8DDB7E0C-8B65-4013-A561-F939A0BACF28}" destId="{910C243A-E292-4182-BBD4-CF0DC17E25EB}" srcOrd="0" destOrd="0" presId="urn:microsoft.com/office/officeart/2005/8/layout/vList2"/>
    <dgm:cxn modelId="{BCE79D5A-E308-4165-8D59-40CE5F0A17E3}" srcId="{6E856866-F070-4A4B-9968-F7B1988FE04D}" destId="{26FA0DFD-B334-4FC1-9E7B-6FC5D1C21664}" srcOrd="1" destOrd="0" parTransId="{BF44F2DC-CA7D-41F6-865D-5538EA6BE2F6}" sibTransId="{37BDCDB1-6CDE-4197-AF83-2BCADABE3EC8}"/>
    <dgm:cxn modelId="{7A25517B-7D78-4C2A-B725-274085BA2893}" type="presOf" srcId="{6E856866-F070-4A4B-9968-F7B1988FE04D}" destId="{E8BE0441-8468-4AB6-8412-344C0F133F83}" srcOrd="0" destOrd="0" presId="urn:microsoft.com/office/officeart/2005/8/layout/vList2"/>
    <dgm:cxn modelId="{87D3B291-A54C-4AC9-9E85-299C42327E34}" type="presOf" srcId="{BD3554C6-7C65-4F78-8338-154FB619A310}" destId="{B63995B5-51B2-49EE-B7F3-F4B55A401375}" srcOrd="0" destOrd="0" presId="urn:microsoft.com/office/officeart/2005/8/layout/vList2"/>
    <dgm:cxn modelId="{E01C17B4-DA06-4CCB-9523-B9DF0EAAEEBC}" srcId="{6E856866-F070-4A4B-9968-F7B1988FE04D}" destId="{BA75B82F-76B5-4303-B8BA-609B333831DB}" srcOrd="0" destOrd="0" parTransId="{DB493130-9FB7-44FA-998F-5AB0F29D0026}" sibTransId="{3EA82A5C-AC5E-4A6B-B301-F7F5A67711D3}"/>
    <dgm:cxn modelId="{BA2685D2-883C-4139-9FBD-E114C667B53A}" srcId="{6E856866-F070-4A4B-9968-F7B1988FE04D}" destId="{BD3554C6-7C65-4F78-8338-154FB619A310}" srcOrd="2" destOrd="0" parTransId="{A9AAC1FB-0906-490B-952B-5BE81186E17B}" sibTransId="{7F9D0251-0D78-4983-8F19-9A4CDA6BB329}"/>
    <dgm:cxn modelId="{2A658CF8-393E-43B2-90A4-190A8EB35D9A}" type="presOf" srcId="{BA75B82F-76B5-4303-B8BA-609B333831DB}" destId="{91528E30-30B2-40C4-9A78-892FDA7B667F}" srcOrd="0" destOrd="0" presId="urn:microsoft.com/office/officeart/2005/8/layout/vList2"/>
    <dgm:cxn modelId="{AF487E50-C61C-47F7-9302-52FD831034E6}" type="presParOf" srcId="{E8BE0441-8468-4AB6-8412-344C0F133F83}" destId="{91528E30-30B2-40C4-9A78-892FDA7B667F}" srcOrd="0" destOrd="0" presId="urn:microsoft.com/office/officeart/2005/8/layout/vList2"/>
    <dgm:cxn modelId="{3E881765-6735-48D2-82F4-18C8C1FF6428}" type="presParOf" srcId="{E8BE0441-8468-4AB6-8412-344C0F133F83}" destId="{1C0828AA-C04B-4488-84AE-D4D6FF589DF9}" srcOrd="1" destOrd="0" presId="urn:microsoft.com/office/officeart/2005/8/layout/vList2"/>
    <dgm:cxn modelId="{72002221-7CED-4147-ACB2-93AF921B0269}" type="presParOf" srcId="{E8BE0441-8468-4AB6-8412-344C0F133F83}" destId="{57A9B8A8-CCD2-4A33-8795-7432921B7DAA}" srcOrd="2" destOrd="0" presId="urn:microsoft.com/office/officeart/2005/8/layout/vList2"/>
    <dgm:cxn modelId="{48AB6A8B-A0A0-4FD3-B932-46F4439316D8}" type="presParOf" srcId="{E8BE0441-8468-4AB6-8412-344C0F133F83}" destId="{4BF54885-26D7-4307-8705-6A97B68AD5C8}" srcOrd="3" destOrd="0" presId="urn:microsoft.com/office/officeart/2005/8/layout/vList2"/>
    <dgm:cxn modelId="{49CD58FE-AA98-4F7A-A2AD-E82D5F1071D8}" type="presParOf" srcId="{E8BE0441-8468-4AB6-8412-344C0F133F83}" destId="{B63995B5-51B2-49EE-B7F3-F4B55A401375}" srcOrd="4" destOrd="0" presId="urn:microsoft.com/office/officeart/2005/8/layout/vList2"/>
    <dgm:cxn modelId="{70BF5082-5B7A-4DDF-B55F-ED2FDCA1CC7C}" type="presParOf" srcId="{E8BE0441-8468-4AB6-8412-344C0F133F83}" destId="{253390CC-0008-46BB-9C55-7FA5AC6F46BD}" srcOrd="5" destOrd="0" presId="urn:microsoft.com/office/officeart/2005/8/layout/vList2"/>
    <dgm:cxn modelId="{CCD703F9-F876-4B09-AB04-28F7E85811EE}" type="presParOf" srcId="{E8BE0441-8468-4AB6-8412-344C0F133F83}" destId="{D80776EB-B6F5-4193-A02F-D700BA78146A}" srcOrd="6" destOrd="0" presId="urn:microsoft.com/office/officeart/2005/8/layout/vList2"/>
    <dgm:cxn modelId="{DA15DA90-D109-4E18-B1F0-71E970FA4EEE}" type="presParOf" srcId="{E8BE0441-8468-4AB6-8412-344C0F133F83}" destId="{8D4D193D-3F9F-4998-8BAB-B2348D054990}" srcOrd="7" destOrd="0" presId="urn:microsoft.com/office/officeart/2005/8/layout/vList2"/>
    <dgm:cxn modelId="{6B425117-965B-4A4D-BC8F-143EC16F26D7}" type="presParOf" srcId="{E8BE0441-8468-4AB6-8412-344C0F133F83}" destId="{910C243A-E292-4182-BBD4-CF0DC17E25E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528E30-30B2-40C4-9A78-892FDA7B667F}">
      <dsp:nvSpPr>
        <dsp:cNvPr id="0" name=""/>
        <dsp:cNvSpPr/>
      </dsp:nvSpPr>
      <dsp:spPr>
        <a:xfrm>
          <a:off x="0" y="50521"/>
          <a:ext cx="6002110" cy="66338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/>
            <a:t>Contexte</a:t>
          </a:r>
          <a:endParaRPr lang="en-US" sz="2700" kern="1200"/>
        </a:p>
      </dsp:txBody>
      <dsp:txXfrm>
        <a:off x="32384" y="82905"/>
        <a:ext cx="5937342" cy="598621"/>
      </dsp:txXfrm>
    </dsp:sp>
    <dsp:sp modelId="{57A9B8A8-CCD2-4A33-8795-7432921B7DAA}">
      <dsp:nvSpPr>
        <dsp:cNvPr id="0" name=""/>
        <dsp:cNvSpPr/>
      </dsp:nvSpPr>
      <dsp:spPr>
        <a:xfrm>
          <a:off x="0" y="791671"/>
          <a:ext cx="6002110" cy="663389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/>
            <a:t>Méthodologie de collecte</a:t>
          </a:r>
          <a:endParaRPr lang="en-US" sz="2700" kern="1200"/>
        </a:p>
      </dsp:txBody>
      <dsp:txXfrm>
        <a:off x="32384" y="824055"/>
        <a:ext cx="5937342" cy="598621"/>
      </dsp:txXfrm>
    </dsp:sp>
    <dsp:sp modelId="{B63995B5-51B2-49EE-B7F3-F4B55A401375}">
      <dsp:nvSpPr>
        <dsp:cNvPr id="0" name=""/>
        <dsp:cNvSpPr/>
      </dsp:nvSpPr>
      <dsp:spPr>
        <a:xfrm>
          <a:off x="0" y="1532822"/>
          <a:ext cx="6002110" cy="663389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/>
            <a:t>Traitement </a:t>
          </a:r>
          <a:endParaRPr lang="en-US" sz="2700" kern="1200"/>
        </a:p>
      </dsp:txBody>
      <dsp:txXfrm>
        <a:off x="32384" y="1565206"/>
        <a:ext cx="5937342" cy="598621"/>
      </dsp:txXfrm>
    </dsp:sp>
    <dsp:sp modelId="{D80776EB-B6F5-4193-A02F-D700BA78146A}">
      <dsp:nvSpPr>
        <dsp:cNvPr id="0" name=""/>
        <dsp:cNvSpPr/>
      </dsp:nvSpPr>
      <dsp:spPr>
        <a:xfrm>
          <a:off x="0" y="2273972"/>
          <a:ext cx="6002110" cy="663389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/>
            <a:t>Analyses</a:t>
          </a:r>
          <a:endParaRPr lang="en-US" sz="2700" kern="1200"/>
        </a:p>
      </dsp:txBody>
      <dsp:txXfrm>
        <a:off x="32384" y="2306356"/>
        <a:ext cx="5937342" cy="598621"/>
      </dsp:txXfrm>
    </dsp:sp>
    <dsp:sp modelId="{910C243A-E292-4182-BBD4-CF0DC17E25EB}">
      <dsp:nvSpPr>
        <dsp:cNvPr id="0" name=""/>
        <dsp:cNvSpPr/>
      </dsp:nvSpPr>
      <dsp:spPr>
        <a:xfrm>
          <a:off x="0" y="3015122"/>
          <a:ext cx="6002110" cy="663389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kern="1200"/>
            <a:t>Préconisations de pays</a:t>
          </a:r>
          <a:endParaRPr lang="en-US" sz="2700" kern="1200"/>
        </a:p>
      </dsp:txBody>
      <dsp:txXfrm>
        <a:off x="32384" y="3047506"/>
        <a:ext cx="5937342" cy="5986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66F13B-9BBD-64B9-75B3-240AD283EF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2E157FC-3DA2-C048-2A6C-94CF79DDE1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E04B72-A4BE-33E2-633F-44CE9B894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11F69-B7E0-45C0-AE90-7FA255C9C80B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9B11A1-2FA7-B8B8-91FD-D26D151E6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9E7450-90DF-F46A-48FB-4E3D4FFE2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C3FB7-4057-4889-890E-E4C8A30B8A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9477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5D0BD8-6BC4-10F6-9F7E-7EF9544B0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F3E973-1FD7-6EC6-57E3-C19DE8008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435BEA0-4EB8-2FE7-3397-E2BC991D4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11F69-B7E0-45C0-AE90-7FA255C9C80B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26A2BBE-E6A3-18B9-E277-01AB31BCE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2746040-14EB-0029-202D-DB1ED7870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C3FB7-4057-4889-890E-E4C8A30B8A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547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E46095-4656-8943-1B47-9AA4F1704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6931995-7430-D530-9344-AC740B04F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4558FD8-638D-BCED-8495-19A6F6D4F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11F69-B7E0-45C0-AE90-7FA255C9C80B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D576CF5-FC4C-AAE4-DDC1-39EB640B2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0AB8AA-F8EF-48C5-A67A-4CEF51FA4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C3FB7-4057-4889-890E-E4C8A30B8A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2589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F20271-A93A-04CC-C71B-01DCD4101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D3FD94-86D1-20D2-9A67-4793F787C1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77EC31C-AA4E-1590-AAE6-20D559FA5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ECCC654-E414-7F03-8578-EFBCB09C3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11F69-B7E0-45C0-AE90-7FA255C9C80B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7C2A23-08EF-96A3-1FD6-3D485D609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8AAB3D2-D52B-2A7E-0398-371187D6E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C3FB7-4057-4889-890E-E4C8A30B8A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2245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31C4622-7723-0BCC-1AFC-8889B15B9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EB8C771-CA36-F573-12CD-9CEE959DC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F5039EA-57E8-F4AA-8E16-0C039A051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6867E94-FB75-8807-ED21-944EFF0919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F4DD6A2-7673-3185-6628-816095E197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58B5909-FE5B-4900-A19E-E4DCE5214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11F69-B7E0-45C0-AE90-7FA255C9C80B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186E303-F6BE-0935-6DAE-6D08DD803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DDD19E4-B50D-7643-D96E-BD7C7CE60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C3FB7-4057-4889-890E-E4C8A30B8A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639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CC6E70-4446-A8DC-D45D-B0244A3A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8380B67-9774-9FFB-6005-23A81923C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11F69-B7E0-45C0-AE90-7FA255C9C80B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586F3FDB-F116-7956-C909-2C31B5467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6156875-5790-CCB3-7DEC-64E382352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C3FB7-4057-4889-890E-E4C8A30B8A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6166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022995C0-FE99-DC54-C323-5CB3A8251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11F69-B7E0-45C0-AE90-7FA255C9C80B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FCDD466-24CC-AAB8-023B-284F4476C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FDC12F9-2E7F-CFB7-C0F2-CE65D53ED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C3FB7-4057-4889-890E-E4C8A30B8A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5150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0C1563-3937-601C-6847-95EC06576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CD83FE8-4C30-C3DE-3F2D-2A58753D3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01FD370-2AC0-DF29-A69F-7E2CB4F83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7BBEE7B-926A-7449-B7C3-FFC258B42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11F69-B7E0-45C0-AE90-7FA255C9C80B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44BEC4-C744-5DAD-ABBF-B427B692C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B376958-6880-6024-B58E-7F34A3F50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C3FB7-4057-4889-890E-E4C8A30B8A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970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6B7630-125E-69F0-13CB-19B596982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7A3D580-1CB8-CFF5-FD9D-BEE619BF4E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95F88A2-ACA2-6A25-FCAA-7C2D58A8F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12895CB-9D4F-FE7B-2B7F-F36863DB8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11F69-B7E0-45C0-AE90-7FA255C9C80B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3591764-ADBD-BE44-DF12-2DC9368A0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D3F536B-9D0D-F719-7B77-D83BECFBB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C3FB7-4057-4889-890E-E4C8A30B8A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6430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299BB1-3483-AC57-1676-9AD4B51AF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2592195-C6B8-EBBD-92A7-6165250B44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F0CC552-1C07-D0E6-97F9-AF5BA2E45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11F69-B7E0-45C0-AE90-7FA255C9C80B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866993-351D-D58A-A361-352CD6BF9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CF8B1D-6827-44B7-A926-0316608A6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C3FB7-4057-4889-890E-E4C8A30B8A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3491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1C8F05B-5D14-9536-D1CF-EAF720692C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7382809-88E6-CE77-82C9-0E3DD25689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1D57A0E-C55E-6F33-2D13-54C60D040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11F69-B7E0-45C0-AE90-7FA255C9C80B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B1C4D8-75D4-4168-D58B-DF129EE7D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60B620F-AF86-A565-32A1-39DDA63A3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C3FB7-4057-4889-890E-E4C8A30B8A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2187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302909F-3774-25B1-9798-4911786F3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13B88EF-C5D4-08AC-688B-4767313E6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3AF1F0-60FD-4732-25A6-0B02E93EEB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911F69-B7E0-45C0-AE90-7FA255C9C80B}" type="datetimeFigureOut">
              <a:rPr lang="fr-FR" smtClean="0"/>
              <a:t>28/07/2026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942481F-549A-A9A7-6E01-C0E1101714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7503645-A7EC-F62C-2BDE-1906A7B10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EC3FB7-4057-4889-890E-E4C8A30B8A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9509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L'étude de marché : Comment la réaliser de façon efficace !">
            <a:extLst>
              <a:ext uri="{FF2B5EF4-FFF2-40B4-BE49-F238E27FC236}">
                <a16:creationId xmlns:a16="http://schemas.microsoft.com/office/drawing/2014/main" id="{6A409D75-CA27-8049-31B4-2FEA9A520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45" b="9586"/>
          <a:stretch>
            <a:fillRect/>
          </a:stretch>
        </p:blipFill>
        <p:spPr bwMode="auto">
          <a:xfrm>
            <a:off x="20" y="1"/>
            <a:ext cx="12191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48872AF9-7717-2F4D-0D51-1344542D60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FFFFFF"/>
                </a:solidFill>
              </a:rPr>
              <a:t>Projet : étude de marché avec Python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ED0741F-CA09-AE55-85E0-47563E600C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FFFFFF"/>
                </a:solidFill>
              </a:rPr>
              <a:t>Arthur Alvarez</a:t>
            </a:r>
          </a:p>
        </p:txBody>
      </p:sp>
    </p:spTree>
    <p:extLst>
      <p:ext uri="{BB962C8B-B14F-4D97-AF65-F5344CB8AC3E}">
        <p14:creationId xmlns:p14="http://schemas.microsoft.com/office/powerpoint/2010/main" val="20104896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97DA1A5-5BE0-7BE4-4D00-50196179D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>
            <a:normAutofit/>
          </a:bodyPr>
          <a:lstStyle/>
          <a:p>
            <a:r>
              <a:rPr lang="fr-FR" sz="4000"/>
              <a:t>Sommaire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AC22CE-1C2F-005A-A8B2-85CAF5B2F7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788" r="30530" b="2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  <p:graphicFrame>
        <p:nvGraphicFramePr>
          <p:cNvPr id="5" name="Espace réservé du contenu 2">
            <a:extLst>
              <a:ext uri="{FF2B5EF4-FFF2-40B4-BE49-F238E27FC236}">
                <a16:creationId xmlns:a16="http://schemas.microsoft.com/office/drawing/2014/main" id="{BB905A33-4C48-21CF-A7C2-7C0E979575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1476105"/>
              </p:ext>
            </p:extLst>
          </p:nvPr>
        </p:nvGraphicFramePr>
        <p:xfrm>
          <a:off x="836680" y="2405067"/>
          <a:ext cx="6002110" cy="37290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4795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9" name="Rectangle 205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4" name="Picture 6" descr="Understanding Organizational Context - Business Management Systems Ltd">
            <a:extLst>
              <a:ext uri="{FF2B5EF4-FFF2-40B4-BE49-F238E27FC236}">
                <a16:creationId xmlns:a16="http://schemas.microsoft.com/office/drawing/2014/main" id="{CB09CFDC-3B11-6696-31DC-C925F5EA0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38" b="1798"/>
          <a:stretch>
            <a:fillRect/>
          </a:stretch>
        </p:blipFill>
        <p:spPr bwMode="auto">
          <a:xfrm>
            <a:off x="2522356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1" name="Rectangle 206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506EAF0-3B50-B0C5-7E8E-03AC4A17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fr-FR" sz="4000"/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FF7C9F-6B23-9AB2-7FAD-D85381864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fr-FR" sz="2000" dirty="0"/>
              <a:t>La poule qui chante -&gt; élevage et ventes de poulets bio</a:t>
            </a:r>
          </a:p>
          <a:p>
            <a:r>
              <a:rPr lang="fr-FR" sz="2000" dirty="0"/>
              <a:t>Ambition : se développer à l’international</a:t>
            </a:r>
          </a:p>
          <a:p>
            <a:r>
              <a:rPr lang="fr-FR" sz="2000" dirty="0"/>
              <a:t>Objectif du projet : analyser des groupements de pays à cibler</a:t>
            </a:r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3985677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EBF75D4-5659-7862-B573-87D4C1052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fr-FR" sz="5400"/>
              <a:t>Méthodologie de collecte</a:t>
            </a:r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B96F31-A364-E3E0-831D-0C091B8F7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670097" cy="3320668"/>
          </a:xfrm>
        </p:spPr>
        <p:txBody>
          <a:bodyPr>
            <a:normAutofit/>
          </a:bodyPr>
          <a:lstStyle/>
          <a:p>
            <a:r>
              <a:rPr lang="fr-FR" sz="2200" dirty="0"/>
              <a:t>Analyse PESTEL</a:t>
            </a:r>
          </a:p>
          <a:p>
            <a:r>
              <a:rPr lang="fr-FR" sz="2200" dirty="0"/>
              <a:t>Données de la FAO</a:t>
            </a:r>
            <a:br>
              <a:rPr lang="fr-FR" sz="2200" dirty="0"/>
            </a:br>
            <a:r>
              <a:rPr lang="fr-FR" sz="2200" dirty="0"/>
              <a:t>(Food and Agriculture </a:t>
            </a:r>
            <a:r>
              <a:rPr lang="fr-FR" sz="2200" dirty="0" err="1"/>
              <a:t>Organization</a:t>
            </a:r>
            <a:r>
              <a:rPr lang="fr-FR" sz="2200" dirty="0"/>
              <a:t>)</a:t>
            </a:r>
          </a:p>
          <a:p>
            <a:r>
              <a:rPr lang="fr-FR" sz="2200" dirty="0"/>
              <a:t>Agence spécialisée qui mène les efforts internationaux vers l’élimination de la faim</a:t>
            </a:r>
          </a:p>
          <a:p>
            <a:endParaRPr lang="fr-FR" sz="2200" dirty="0"/>
          </a:p>
        </p:txBody>
      </p:sp>
      <p:pic>
        <p:nvPicPr>
          <p:cNvPr id="1026" name="Picture 2" descr="Analyse PESTEL : Méthode, Modèle et Exemple">
            <a:extLst>
              <a:ext uri="{FF2B5EF4-FFF2-40B4-BE49-F238E27FC236}">
                <a16:creationId xmlns:a16="http://schemas.microsoft.com/office/drawing/2014/main" id="{00D2A239-2095-9184-F12E-27FD1562C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326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Quelles différences entre le « big data » et l'Analytique ? | Planon">
            <a:extLst>
              <a:ext uri="{FF2B5EF4-FFF2-40B4-BE49-F238E27FC236}">
                <a16:creationId xmlns:a16="http://schemas.microsoft.com/office/drawing/2014/main" id="{CB1119FF-ACB0-0A3C-5407-9100C477C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5"/>
          <a:stretch>
            <a:fillRect/>
          </a:stretch>
        </p:blipFill>
        <p:spPr bwMode="auto">
          <a:xfrm>
            <a:off x="2522356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1" name="Rectangle 308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5805F0F-25DE-EDDE-6491-C066263A4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fr-FR" sz="4000"/>
              <a:t>Variables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EDA062-4155-642D-0DAB-3F3C9202A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fr-FR" sz="1900"/>
              <a:t>Population : socioculturel</a:t>
            </a:r>
          </a:p>
          <a:p>
            <a:r>
              <a:rPr lang="fr-FR" sz="1900"/>
              <a:t>Disponibilité intérieure : économique</a:t>
            </a:r>
          </a:p>
          <a:p>
            <a:r>
              <a:rPr lang="fr-FR" sz="1900"/>
              <a:t>Exportations/importations en $ et en têtes : économique</a:t>
            </a:r>
          </a:p>
          <a:p>
            <a:r>
              <a:rPr lang="fr-FR" sz="1900"/>
              <a:t>Production : économique/technologique</a:t>
            </a:r>
          </a:p>
          <a:p>
            <a:r>
              <a:rPr lang="fr-FR" sz="1900"/>
              <a:t>PIB par pays et sa croissance annuelle : économique</a:t>
            </a:r>
          </a:p>
          <a:p>
            <a:r>
              <a:rPr lang="fr-FR" sz="1900"/>
              <a:t>Stabilité politique : politique/légal</a:t>
            </a:r>
          </a:p>
          <a:p>
            <a:endParaRPr lang="fr-FR" sz="1900"/>
          </a:p>
          <a:p>
            <a:endParaRPr lang="fr-FR" sz="1900"/>
          </a:p>
        </p:txBody>
      </p:sp>
    </p:spTree>
    <p:extLst>
      <p:ext uri="{BB962C8B-B14F-4D97-AF65-F5344CB8AC3E}">
        <p14:creationId xmlns:p14="http://schemas.microsoft.com/office/powerpoint/2010/main" val="1383183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25BC92C-4919-8C74-B160-330C8938C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fr-FR" sz="4800"/>
              <a:t>Feature engineering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A86573-D2E6-03CF-0A3C-9C89F3E1F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fr-FR" sz="2000"/>
              <a:t>Croissance population sur 5 ans (socioculturel) : (PA – P5)/P5</a:t>
            </a:r>
            <a:br>
              <a:rPr lang="fr-FR" sz="2000"/>
            </a:br>
            <a:r>
              <a:rPr lang="fr-FR" sz="2000"/>
              <a:t>PA : Population Actuelle</a:t>
            </a:r>
            <a:br>
              <a:rPr lang="fr-FR" sz="2000"/>
            </a:br>
            <a:r>
              <a:rPr lang="fr-FR" sz="2000"/>
              <a:t>P5 : Population il y a 5 ans</a:t>
            </a:r>
          </a:p>
          <a:p>
            <a:r>
              <a:rPr lang="fr-FR" sz="2000"/>
              <a:t>PIB par habitant (économique) : PIB/population</a:t>
            </a:r>
          </a:p>
          <a:p>
            <a:r>
              <a:rPr lang="fr-FR" sz="2000"/>
              <a:t>Taux de dépendance aux imports (économique) : Importations/Disponibilité</a:t>
            </a:r>
          </a:p>
          <a:p>
            <a:r>
              <a:rPr lang="fr-FR" sz="2000"/>
              <a:t>Valeur unitaire import (économique) : Imports ($) / Imports (têtes)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701F122A-0EAC-7BAF-77FB-F3DDEEEC1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124624"/>
            <a:ext cx="5150277" cy="2433505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219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68868CF-01A3-492E-9A0F-1B438ADAB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Traitement : nettoyage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9162C25-AE05-9D25-03F5-A2A70AA19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Plusieurs fichiers, même procédé de nettoyage</a:t>
            </a:r>
          </a:p>
          <a:p>
            <a:r>
              <a:rPr lang="fr-FR" dirty="0"/>
              <a:t>Filtre sur les valeurs</a:t>
            </a:r>
          </a:p>
          <a:p>
            <a:r>
              <a:rPr lang="fr-FR" dirty="0"/>
              <a:t>Pivot de colonnes</a:t>
            </a:r>
          </a:p>
          <a:p>
            <a:r>
              <a:rPr lang="fr-FR" dirty="0"/>
              <a:t>Suppression de valeurs nulles</a:t>
            </a:r>
          </a:p>
          <a:p>
            <a:r>
              <a:rPr lang="fr-FR" dirty="0"/>
              <a:t>But final : colonnes Zone, Année puis une colonne par indicateur</a:t>
            </a:r>
          </a:p>
          <a:p>
            <a:r>
              <a:rPr lang="fr-FR" dirty="0"/>
              <a:t>Exemple : fichier disponibilité alimentaire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FEF2250-7477-1721-026B-3071475FC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71136"/>
            <a:ext cx="12192000" cy="1779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037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04410C-FCA6-52A9-2973-2DD614D13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265"/>
            <a:ext cx="5791199" cy="1401183"/>
          </a:xfrm>
        </p:spPr>
        <p:txBody>
          <a:bodyPr anchor="t">
            <a:normAutofit/>
          </a:bodyPr>
          <a:lstStyle/>
          <a:p>
            <a:r>
              <a:rPr lang="fr-FR" sz="3200"/>
              <a:t>Traitement : fusion et outliers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8CAC77E-E6E2-1A81-C988-93EA93E6B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551176"/>
            <a:ext cx="5791199" cy="3602935"/>
          </a:xfrm>
        </p:spPr>
        <p:txBody>
          <a:bodyPr>
            <a:normAutofit/>
          </a:bodyPr>
          <a:lstStyle/>
          <a:p>
            <a:r>
              <a:rPr lang="fr-FR" sz="2000" dirty="0"/>
              <a:t>Après le nettoyage, fusion de tous les fichiers</a:t>
            </a:r>
          </a:p>
          <a:p>
            <a:r>
              <a:rPr lang="fr-FR" sz="2000" dirty="0"/>
              <a:t>Suppression des valeurs nulles pour garder uniquement les pays où tous les indicateurs sont renseignés</a:t>
            </a:r>
          </a:p>
          <a:p>
            <a:r>
              <a:rPr lang="fr-FR" sz="2000" dirty="0"/>
              <a:t>Suppression des pays avec stabilité politique &lt; -1</a:t>
            </a:r>
          </a:p>
          <a:p>
            <a:r>
              <a:rPr lang="fr-FR" sz="2000" dirty="0"/>
              <a:t>Analyse des </a:t>
            </a:r>
            <a:r>
              <a:rPr lang="fr-FR" sz="2000" dirty="0" err="1"/>
              <a:t>outliers</a:t>
            </a:r>
            <a:r>
              <a:rPr lang="fr-FR" sz="2000" dirty="0"/>
              <a:t> : données significativement différentes</a:t>
            </a:r>
          </a:p>
          <a:p>
            <a:r>
              <a:rPr lang="fr-FR" sz="2000" dirty="0" err="1"/>
              <a:t>Boxplot</a:t>
            </a:r>
            <a:r>
              <a:rPr lang="fr-FR" sz="2000" dirty="0"/>
              <a:t> pour chaque variable</a:t>
            </a:r>
          </a:p>
          <a:p>
            <a:r>
              <a:rPr lang="fr-FR" sz="2000" dirty="0" err="1"/>
              <a:t>Zscore</a:t>
            </a:r>
            <a:r>
              <a:rPr lang="fr-FR" sz="2000" dirty="0"/>
              <a:t> : supérieur à 3 = </a:t>
            </a:r>
            <a:r>
              <a:rPr lang="fr-FR" sz="2000" dirty="0" err="1"/>
              <a:t>outlier</a:t>
            </a:r>
            <a:endParaRPr lang="fr-FR" sz="2000" dirty="0"/>
          </a:p>
          <a:p>
            <a:endParaRPr lang="fr-FR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8BC164-E230-753F-2C7E-B4EE7BA77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8086" y="0"/>
            <a:ext cx="4803913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A6DA735-B260-9B6C-E479-F6FAE2C65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8706" y="842824"/>
            <a:ext cx="3423161" cy="5167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245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E13AC45-E274-121C-5EED-A72F24AF9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fr-FR" sz="5400"/>
              <a:t>Traitement : outliers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F41F486-909C-B4D1-468D-073DCF135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fr-FR" sz="2400"/>
              <a:t>Récapitulatif par pays</a:t>
            </a:r>
          </a:p>
          <a:p>
            <a:r>
              <a:rPr lang="fr-FR" sz="2400"/>
              <a:t>Suppression de certains pays</a:t>
            </a:r>
          </a:p>
          <a:p>
            <a:r>
              <a:rPr lang="fr-FR" sz="2400"/>
              <a:t>Exemples :</a:t>
            </a:r>
            <a:br>
              <a:rPr lang="fr-FR" sz="2400"/>
            </a:br>
            <a:r>
              <a:rPr lang="fr-FR" sz="2400"/>
              <a:t>Etats-unis : outlier sur disponibilité, exportations, production = cible pas intéressante pour nous</a:t>
            </a:r>
            <a:br>
              <a:rPr lang="fr-FR" sz="2400"/>
            </a:br>
            <a:r>
              <a:rPr lang="fr-FR" sz="2400"/>
              <a:t>Brésil : mêmes raisons</a:t>
            </a:r>
          </a:p>
          <a:p>
            <a:r>
              <a:rPr lang="fr-FR" sz="2400"/>
              <a:t>Résultat : 129 pays dans le fichier final</a:t>
            </a:r>
            <a:br>
              <a:rPr lang="fr-FR" sz="2400"/>
            </a:br>
            <a:endParaRPr lang="fr-FR" sz="2400"/>
          </a:p>
        </p:txBody>
      </p:sp>
    </p:spTree>
    <p:extLst>
      <p:ext uri="{BB962C8B-B14F-4D97-AF65-F5344CB8AC3E}">
        <p14:creationId xmlns:p14="http://schemas.microsoft.com/office/powerpoint/2010/main" val="4121211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0AD164-8767-2572-642E-537E966A1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Analyses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75EEF3-EA98-5D7E-D5FE-1225314F96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ACP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689C40D-307B-C5E0-E5A8-26DA0010D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17719"/>
            <a:ext cx="12192000" cy="401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262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9BA7351-E165-7B6B-3207-0D8B2B2B2F23}"/>
              </a:ext>
            </a:extLst>
          </p:cNvPr>
          <p:cNvSpPr txBox="1"/>
          <p:nvPr/>
        </p:nvSpPr>
        <p:spPr>
          <a:xfrm>
            <a:off x="572493" y="238539"/>
            <a:ext cx="11018520" cy="14344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atin typeface="+mj-lt"/>
                <a:ea typeface="+mj-ea"/>
                <a:cs typeface="+mj-cs"/>
              </a:rPr>
              <a:t>Cercle de corrélation</a:t>
            </a:r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A2862A8-81D5-134E-DA57-26894066BFED}"/>
              </a:ext>
            </a:extLst>
          </p:cNvPr>
          <p:cNvSpPr txBox="1"/>
          <p:nvPr/>
        </p:nvSpPr>
        <p:spPr>
          <a:xfrm>
            <a:off x="572493" y="2071316"/>
            <a:ext cx="6713552" cy="4119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Interprétation</a:t>
            </a:r>
            <a:r>
              <a:rPr lang="en-US" sz="2200" dirty="0"/>
              <a:t> 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PC1 : Taille et volume du </a:t>
            </a:r>
            <a:r>
              <a:rPr lang="en-US" sz="2200" dirty="0" err="1"/>
              <a:t>marché</a:t>
            </a:r>
            <a:br>
              <a:rPr lang="en-US" sz="2200" dirty="0"/>
            </a:br>
            <a:r>
              <a:rPr lang="en-US" sz="2200" dirty="0"/>
              <a:t>Oppose les grand pays </a:t>
            </a:r>
            <a:r>
              <a:rPr lang="en-US" sz="2200" dirty="0" err="1"/>
              <a:t>producteurs</a:t>
            </a:r>
            <a:r>
              <a:rPr lang="en-US" sz="2200" dirty="0"/>
              <a:t> et </a:t>
            </a:r>
            <a:r>
              <a:rPr lang="en-US" sz="2200" dirty="0" err="1"/>
              <a:t>peuplés</a:t>
            </a:r>
            <a:r>
              <a:rPr lang="en-US" sz="2200" dirty="0"/>
              <a:t> aux pays à </a:t>
            </a:r>
            <a:r>
              <a:rPr lang="en-US" sz="2200" dirty="0" err="1"/>
              <a:t>faible</a:t>
            </a:r>
            <a:r>
              <a:rPr lang="en-US" sz="2200" dirty="0"/>
              <a:t> volume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PC2 : </a:t>
            </a:r>
            <a:r>
              <a:rPr lang="en-US" sz="2200" dirty="0" err="1"/>
              <a:t>Niveau</a:t>
            </a:r>
            <a:r>
              <a:rPr lang="en-US" sz="2200" dirty="0"/>
              <a:t> de </a:t>
            </a:r>
            <a:r>
              <a:rPr lang="en-US" sz="2200" dirty="0" err="1"/>
              <a:t>développement</a:t>
            </a:r>
            <a:r>
              <a:rPr lang="en-US" sz="2200" dirty="0"/>
              <a:t> économique</a:t>
            </a:r>
            <a:br>
              <a:rPr lang="en-US" sz="2200" dirty="0"/>
            </a:br>
            <a:r>
              <a:rPr lang="en-US" sz="2200" dirty="0"/>
              <a:t>Oppose les pays riches, stables et à </a:t>
            </a:r>
            <a:r>
              <a:rPr lang="en-US" sz="2200" dirty="0" err="1"/>
              <a:t>faible</a:t>
            </a:r>
            <a:r>
              <a:rPr lang="en-US" sz="2200" dirty="0"/>
              <a:t> </a:t>
            </a:r>
            <a:r>
              <a:rPr lang="en-US" sz="2200" dirty="0" err="1"/>
              <a:t>croissance</a:t>
            </a:r>
            <a:r>
              <a:rPr lang="en-US" sz="2200" dirty="0"/>
              <a:t> aux pays </a:t>
            </a:r>
            <a:r>
              <a:rPr lang="en-US" sz="2200" dirty="0" err="1"/>
              <a:t>en</a:t>
            </a:r>
            <a:r>
              <a:rPr lang="en-US" sz="2200" dirty="0"/>
              <a:t> </a:t>
            </a:r>
            <a:r>
              <a:rPr lang="en-US" sz="2200" dirty="0" err="1"/>
              <a:t>développement</a:t>
            </a:r>
            <a:endParaRPr lang="en-US" sz="22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06AE8A4-F824-BD87-9C84-4747A3948D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22" r="-3" b="-3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636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205E96-21F4-8984-7A01-9D9B41C88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6875CCC-62D1-DA9C-6ADC-2EABCFF1F388}"/>
              </a:ext>
            </a:extLst>
          </p:cNvPr>
          <p:cNvSpPr txBox="1"/>
          <p:nvPr/>
        </p:nvSpPr>
        <p:spPr>
          <a:xfrm>
            <a:off x="572493" y="238539"/>
            <a:ext cx="11018520" cy="14344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>
                <a:latin typeface="+mj-lt"/>
                <a:ea typeface="+mj-ea"/>
                <a:cs typeface="+mj-cs"/>
              </a:rPr>
              <a:t>Cercle de corrélation</a:t>
            </a:r>
          </a:p>
        </p:txBody>
      </p:sp>
      <p:sp>
        <p:nvSpPr>
          <p:cNvPr id="19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A14FFBB-84FF-AE7D-4F8C-EBC7036DDE0B}"/>
              </a:ext>
            </a:extLst>
          </p:cNvPr>
          <p:cNvSpPr txBox="1"/>
          <p:nvPr/>
        </p:nvSpPr>
        <p:spPr>
          <a:xfrm>
            <a:off x="572493" y="2071316"/>
            <a:ext cx="6713552" cy="4119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Interprétation</a:t>
            </a:r>
            <a:r>
              <a:rPr lang="en-US" sz="2200" dirty="0"/>
              <a:t> 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PC3 : </a:t>
            </a:r>
            <a:r>
              <a:rPr lang="en-US" sz="2200" dirty="0" err="1"/>
              <a:t>Intégration</a:t>
            </a:r>
            <a:r>
              <a:rPr lang="en-US" sz="2200" dirty="0"/>
              <a:t> dans le commerce international</a:t>
            </a:r>
            <a:br>
              <a:rPr lang="en-US" sz="2200" dirty="0"/>
            </a:br>
            <a:r>
              <a:rPr lang="en-US" sz="2200" dirty="0"/>
              <a:t>Montre les pays très </a:t>
            </a:r>
            <a:r>
              <a:rPr lang="en-US" sz="2200" dirty="0" err="1"/>
              <a:t>actifs</a:t>
            </a:r>
            <a:r>
              <a:rPr lang="en-US" sz="2200" dirty="0"/>
              <a:t> dans les </a:t>
            </a:r>
            <a:r>
              <a:rPr lang="en-US" sz="2200" dirty="0" err="1"/>
              <a:t>échanges</a:t>
            </a:r>
            <a:r>
              <a:rPr lang="en-US" sz="2200" dirty="0"/>
              <a:t> </a:t>
            </a:r>
            <a:r>
              <a:rPr lang="en-US" sz="2200" dirty="0" err="1"/>
              <a:t>commerciaux</a:t>
            </a:r>
            <a:r>
              <a:rPr lang="en-US" sz="2200" dirty="0"/>
              <a:t>, </a:t>
            </a:r>
            <a:r>
              <a:rPr lang="en-US" sz="2200" dirty="0" err="1"/>
              <a:t>c’est</a:t>
            </a:r>
            <a:r>
              <a:rPr lang="en-US" sz="2200" dirty="0"/>
              <a:t> un axe </a:t>
            </a:r>
            <a:r>
              <a:rPr lang="en-US" sz="2200" dirty="0" err="1"/>
              <a:t>d’ouverture</a:t>
            </a:r>
            <a:r>
              <a:rPr lang="en-US" sz="2200" dirty="0"/>
              <a:t> </a:t>
            </a:r>
            <a:r>
              <a:rPr lang="en-US" sz="2200" dirty="0" err="1"/>
              <a:t>commerciale</a:t>
            </a:r>
            <a:endParaRPr lang="en-US" sz="22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Pour </a:t>
            </a:r>
            <a:r>
              <a:rPr lang="en-US" sz="2200" dirty="0" err="1"/>
              <a:t>étendre</a:t>
            </a:r>
            <a:r>
              <a:rPr lang="en-US" sz="2200" dirty="0"/>
              <a:t> </a:t>
            </a:r>
            <a:r>
              <a:rPr lang="en-US" sz="2200" dirty="0" err="1"/>
              <a:t>notre</a:t>
            </a:r>
            <a:r>
              <a:rPr lang="en-US" sz="2200" dirty="0"/>
              <a:t> </a:t>
            </a:r>
            <a:r>
              <a:rPr lang="en-US" sz="2200" dirty="0" err="1"/>
              <a:t>activité</a:t>
            </a:r>
            <a:r>
              <a:rPr lang="en-US" sz="2200" dirty="0"/>
              <a:t> :</a:t>
            </a:r>
            <a:br>
              <a:rPr lang="en-US" sz="2200" dirty="0"/>
            </a:br>
            <a:r>
              <a:rPr lang="en-US" sz="2200" dirty="0"/>
              <a:t>PC1 -&gt; </a:t>
            </a:r>
            <a:r>
              <a:rPr lang="en-US" sz="2200" dirty="0" err="1"/>
              <a:t>élevé</a:t>
            </a:r>
            <a:r>
              <a:rPr lang="en-US" sz="2200" dirty="0"/>
              <a:t>, grande population = volume important</a:t>
            </a:r>
            <a:br>
              <a:rPr lang="en-US" sz="2200" dirty="0"/>
            </a:br>
            <a:r>
              <a:rPr lang="en-US" sz="2200" dirty="0"/>
              <a:t>PC2 -&gt; </a:t>
            </a:r>
            <a:r>
              <a:rPr lang="en-US" sz="2200" dirty="0" err="1"/>
              <a:t>élevé</a:t>
            </a:r>
            <a:r>
              <a:rPr lang="en-US" sz="2200" dirty="0"/>
              <a:t>, PIB/habitant </a:t>
            </a:r>
            <a:r>
              <a:rPr lang="en-US" sz="2200" dirty="0" err="1"/>
              <a:t>élevé</a:t>
            </a:r>
            <a:r>
              <a:rPr lang="en-US" sz="2200" dirty="0"/>
              <a:t> et </a:t>
            </a:r>
            <a:r>
              <a:rPr lang="en-US" sz="2200" dirty="0" err="1"/>
              <a:t>stabilité</a:t>
            </a:r>
            <a:r>
              <a:rPr lang="en-US" sz="2200" dirty="0"/>
              <a:t> </a:t>
            </a:r>
            <a:br>
              <a:rPr lang="en-US" sz="2200" dirty="0"/>
            </a:br>
            <a:r>
              <a:rPr lang="en-US" sz="2200" dirty="0" err="1"/>
              <a:t>polique</a:t>
            </a:r>
            <a:r>
              <a:rPr lang="en-US" sz="2200" dirty="0"/>
              <a:t> = </a:t>
            </a:r>
            <a:r>
              <a:rPr lang="en-US" sz="2200" dirty="0" err="1"/>
              <a:t>marché</a:t>
            </a:r>
            <a:r>
              <a:rPr lang="en-US" sz="2200" dirty="0"/>
              <a:t> mature, </a:t>
            </a:r>
            <a:r>
              <a:rPr lang="en-US" sz="2200" dirty="0" err="1"/>
              <a:t>notre</a:t>
            </a:r>
            <a:r>
              <a:rPr lang="en-US" sz="2200" dirty="0"/>
              <a:t> </a:t>
            </a:r>
            <a:r>
              <a:rPr lang="en-US" sz="2200" dirty="0" err="1"/>
              <a:t>cible</a:t>
            </a:r>
            <a:r>
              <a:rPr lang="en-US" sz="2200" dirty="0"/>
              <a:t> </a:t>
            </a:r>
            <a:r>
              <a:rPr lang="en-US" sz="2200" dirty="0" err="1"/>
              <a:t>principale</a:t>
            </a:r>
            <a:br>
              <a:rPr lang="en-US" sz="2200" dirty="0"/>
            </a:br>
            <a:r>
              <a:rPr lang="en-US" sz="2200" dirty="0"/>
              <a:t>PC3 -&gt; </a:t>
            </a:r>
            <a:r>
              <a:rPr lang="en-US" sz="2200" dirty="0" err="1"/>
              <a:t>faible</a:t>
            </a:r>
            <a:r>
              <a:rPr lang="en-US" sz="2200" dirty="0"/>
              <a:t>/</a:t>
            </a:r>
            <a:r>
              <a:rPr lang="en-US" sz="2200" dirty="0" err="1"/>
              <a:t>modéré</a:t>
            </a:r>
            <a:r>
              <a:rPr lang="en-US" sz="2200" dirty="0"/>
              <a:t>, </a:t>
            </a:r>
            <a:r>
              <a:rPr lang="en-US" sz="2200" dirty="0" err="1"/>
              <a:t>marché</a:t>
            </a:r>
            <a:r>
              <a:rPr lang="en-US" sz="2200" dirty="0"/>
              <a:t> à </a:t>
            </a:r>
            <a:r>
              <a:rPr lang="en-US" sz="2200" dirty="0" err="1"/>
              <a:t>conquérir</a:t>
            </a:r>
            <a:endParaRPr lang="en-US" sz="22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0A48001-6BB0-12FF-F620-97CB38D69A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80" r="538" b="-3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250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582C53C-E4F9-6FB0-06A1-0496FFBB80C5}"/>
              </a:ext>
            </a:extLst>
          </p:cNvPr>
          <p:cNvSpPr txBox="1"/>
          <p:nvPr/>
        </p:nvSpPr>
        <p:spPr>
          <a:xfrm>
            <a:off x="836679" y="723898"/>
            <a:ext cx="6002110" cy="14954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>
                <a:latin typeface="+mj-lt"/>
                <a:ea typeface="+mj-ea"/>
                <a:cs typeface="+mj-cs"/>
              </a:rPr>
              <a:t>Première idée du placement des pays</a:t>
            </a:r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35C2BAD4-012D-260C-24E4-E5C540865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80" y="2405067"/>
            <a:ext cx="6002110" cy="372903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On </a:t>
            </a:r>
            <a:r>
              <a:rPr lang="en-US" sz="2000" dirty="0" err="1"/>
              <a:t>peut</a:t>
            </a:r>
            <a:r>
              <a:rPr lang="en-US" sz="2000" dirty="0"/>
              <a:t> commencer à voir des </a:t>
            </a:r>
            <a:r>
              <a:rPr lang="en-US" sz="2000" dirty="0" err="1"/>
              <a:t>similarités</a:t>
            </a:r>
            <a:r>
              <a:rPr lang="en-US" sz="2000" dirty="0"/>
              <a:t> et des </a:t>
            </a:r>
            <a:r>
              <a:rPr lang="en-US" sz="2000" dirty="0" err="1"/>
              <a:t>groupes</a:t>
            </a:r>
            <a:r>
              <a:rPr lang="en-US" sz="2000" dirty="0"/>
              <a:t> dans les pays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A9CEBE59-D15C-CB0E-D86E-D4710DB971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201"/>
          <a:stretch>
            <a:fillRect/>
          </a:stretch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183663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6C4118A-B523-45D9-B427-8E05B2DEA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ysClr val="windowText" lastClr="000000"/>
                </a:solidFill>
              </a:ln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519FF71-DBC5-91A7-5598-052B4CC34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57189"/>
            <a:ext cx="4899039" cy="3346901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/>
              <a:t>Contribution des variables aux composantes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ED8521-DE37-C5E1-A04D-698D66E98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4068287"/>
            <a:ext cx="4899039" cy="2060799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dirty="0"/>
              <a:t>Les variables </a:t>
            </a:r>
            <a:r>
              <a:rPr lang="en-US" sz="2400" dirty="0" err="1"/>
              <a:t>sont</a:t>
            </a:r>
            <a:r>
              <a:rPr lang="en-US" sz="2400" dirty="0"/>
              <a:t> </a:t>
            </a:r>
            <a:r>
              <a:rPr lang="en-US" sz="2400" dirty="0" err="1"/>
              <a:t>représentées</a:t>
            </a:r>
            <a:r>
              <a:rPr lang="en-US" sz="2400" dirty="0"/>
              <a:t> dans au </a:t>
            </a:r>
            <a:r>
              <a:rPr lang="en-US" sz="2400" dirty="0" err="1"/>
              <a:t>moins</a:t>
            </a:r>
            <a:r>
              <a:rPr lang="en-US" sz="2400" dirty="0"/>
              <a:t> </a:t>
            </a:r>
            <a:r>
              <a:rPr lang="en-US" sz="2400" dirty="0" err="1"/>
              <a:t>une</a:t>
            </a:r>
            <a:r>
              <a:rPr lang="en-US" sz="2400" dirty="0"/>
              <a:t> des </a:t>
            </a:r>
            <a:r>
              <a:rPr lang="en-US" sz="2400" dirty="0" err="1"/>
              <a:t>composantes</a:t>
            </a:r>
            <a:endParaRPr lang="en-US" sz="24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0CC729E-9459-FC59-2867-F6AD555472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88"/>
          <a:stretch>
            <a:fillRect/>
          </a:stretch>
        </p:blipFill>
        <p:spPr>
          <a:xfrm>
            <a:off x="6095999" y="10"/>
            <a:ext cx="6105655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956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34A8E6-F390-000F-CEF3-8675A97EA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Intérêt de l’ACP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E4C841-23F6-322A-5A33-8A0223576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Réduction en 3 axes principaux qui seront utilisées pour la suite de l’analyse</a:t>
            </a:r>
          </a:p>
          <a:p>
            <a:r>
              <a:rPr lang="fr-FR" dirty="0"/>
              <a:t>La plus grande partie de la signification des données se résume sur ces axes</a:t>
            </a:r>
          </a:p>
        </p:txBody>
      </p:sp>
    </p:spTree>
    <p:extLst>
      <p:ext uri="{BB962C8B-B14F-4D97-AF65-F5344CB8AC3E}">
        <p14:creationId xmlns:p14="http://schemas.microsoft.com/office/powerpoint/2010/main" val="2400805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7BD8E5-B5D7-F87D-3486-FDC326EEA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CAH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28D9A9-DFB4-11DA-9982-9109B80AC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740EAE6-0974-9E55-EFFD-6BD8DADEA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7" y="1336532"/>
            <a:ext cx="11325225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774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F10C78-89B5-4B3C-C548-1F5B54BB6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4CFF35-F046-ED7A-7FB6-78AC4B3AE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6388FD9-941E-DFEF-900B-D0D2ED154E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68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A0BA6C-F763-3129-780A-D509D3E45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KMeans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1BCF2F-D7A1-8B2F-0947-EEFB70F1A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Choix du k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5BB7877-69EF-C8F6-0CE1-4F102505B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895" y="1246100"/>
            <a:ext cx="752475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660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1CAD89-CED9-19F2-FA27-C488946CC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AA45D3-EB45-4935-21CC-B61286E351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E494269-B5BE-A966-B62A-CF153E8DA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5" y="1095375"/>
            <a:ext cx="752475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1061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76DD5F-F537-3582-4B3C-55552BE15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5CD396-1B6E-CE24-AE12-7BC2A056D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5A24406-13C0-494E-7AF4-3E112E2C9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625" y="1095375"/>
            <a:ext cx="7524750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181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7EB49B-C8ED-01D7-831A-59C948476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Kmeans</a:t>
            </a:r>
            <a:r>
              <a:rPr lang="fr-FR" dirty="0"/>
              <a:t> 4 clusters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D1E6EE5-F4CC-C2B9-581A-0667DDF1A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002" y="2059175"/>
            <a:ext cx="3629532" cy="317226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3BFF47A-6315-B42E-53B1-1212C4350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473" y="2871709"/>
            <a:ext cx="1105054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993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DEA42F-18EF-FA8D-8735-764D8E7D5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Kmeans</a:t>
            </a:r>
            <a:r>
              <a:rPr lang="fr-FR" dirty="0"/>
              <a:t> 5 clusters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C5716D5-A987-E89D-2284-DDF89C888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615" y="2106212"/>
            <a:ext cx="4020111" cy="3248478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D6DF879-44D8-85D0-EF43-D618C54B2C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841" y="2685946"/>
            <a:ext cx="1200318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6844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DA5B42-4BAD-32C5-71F5-D59D3B6D9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Analyse des clusters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5DD89B-DF57-AE64-B394-EEBF3ADB6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029B8CF-DD5B-89D7-AAF2-0891CA560C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2668"/>
            <a:ext cx="12192000" cy="5558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1759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64841E-5443-E33D-391C-49246A1C6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Clusters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80F0FA-5008-D5C8-650E-C97A29F709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605" y="1966302"/>
            <a:ext cx="10515600" cy="4351338"/>
          </a:xfrm>
        </p:spPr>
        <p:txBody>
          <a:bodyPr/>
          <a:lstStyle/>
          <a:p>
            <a:r>
              <a:rPr lang="fr-FR" dirty="0"/>
              <a:t>0 : marchés émergents</a:t>
            </a:r>
          </a:p>
          <a:p>
            <a:r>
              <a:rPr lang="fr-FR" dirty="0"/>
              <a:t>1 : marchés stables</a:t>
            </a:r>
            <a:br>
              <a:rPr lang="fr-FR" dirty="0"/>
            </a:br>
            <a:r>
              <a:rPr lang="fr-FR" dirty="0"/>
              <a:t>et développés</a:t>
            </a:r>
          </a:p>
          <a:p>
            <a:r>
              <a:rPr lang="fr-FR" dirty="0"/>
              <a:t>2 : marchés matures et</a:t>
            </a:r>
            <a:br>
              <a:rPr lang="fr-FR" dirty="0"/>
            </a:br>
            <a:r>
              <a:rPr lang="fr-FR" dirty="0"/>
              <a:t>diversifiés</a:t>
            </a:r>
          </a:p>
          <a:p>
            <a:r>
              <a:rPr lang="fr-FR" dirty="0"/>
              <a:t>3 : grands industriels</a:t>
            </a:r>
          </a:p>
          <a:p>
            <a:r>
              <a:rPr lang="fr-FR" dirty="0"/>
              <a:t>4 : grands marchés en</a:t>
            </a:r>
            <a:br>
              <a:rPr lang="fr-FR" dirty="0"/>
            </a:br>
            <a:r>
              <a:rPr lang="fr-FR" dirty="0"/>
              <a:t>développement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75A8BBB-2179-DABD-946F-2CD1BBD53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8862" y="365125"/>
            <a:ext cx="7620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5379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42ABCF-89D2-673B-ADAE-094D4E925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Préconisations de pays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8FA7C4-ACD9-292A-EAB1-D51BB5681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Pays européens avec le même cluster que la France (cluster 2) :</a:t>
            </a:r>
            <a:br>
              <a:rPr lang="fr-FR" dirty="0"/>
            </a:br>
            <a:r>
              <a:rPr lang="fr-FR" dirty="0"/>
              <a:t>Espagne, Royaume-Uni, Italie, Roumanie, Pologne</a:t>
            </a:r>
          </a:p>
          <a:p>
            <a:r>
              <a:rPr lang="fr-FR" dirty="0"/>
              <a:t>Pays européens cluster 1 :</a:t>
            </a:r>
            <a:br>
              <a:rPr lang="fr-FR" dirty="0"/>
            </a:br>
            <a:r>
              <a:rPr lang="fr-FR" dirty="0"/>
              <a:t>Portugal, Irlande, Suisse, Suède, Norvège, …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894084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17948</TotalTime>
  <Words>590</Words>
  <Application>Microsoft Office PowerPoint</Application>
  <PresentationFormat>Grand écran</PresentationFormat>
  <Paragraphs>79</Paragraphs>
  <Slides>25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Thème Office</vt:lpstr>
      <vt:lpstr>Projet : étude de marché avec Python</vt:lpstr>
      <vt:lpstr>Sommaire</vt:lpstr>
      <vt:lpstr>Contexte</vt:lpstr>
      <vt:lpstr>Méthodologie de collecte</vt:lpstr>
      <vt:lpstr>Variables</vt:lpstr>
      <vt:lpstr>Feature engineering</vt:lpstr>
      <vt:lpstr>Traitement : nettoyage</vt:lpstr>
      <vt:lpstr>Traitement : fusion et outliers</vt:lpstr>
      <vt:lpstr>Traitement : outliers</vt:lpstr>
      <vt:lpstr>Analyses</vt:lpstr>
      <vt:lpstr>Présentation PowerPoint</vt:lpstr>
      <vt:lpstr>Présentation PowerPoint</vt:lpstr>
      <vt:lpstr>Présentation PowerPoint</vt:lpstr>
      <vt:lpstr>Contribution des variables aux composantes</vt:lpstr>
      <vt:lpstr>Intérêt de l’ACP</vt:lpstr>
      <vt:lpstr>CAH</vt:lpstr>
      <vt:lpstr>Présentation PowerPoint</vt:lpstr>
      <vt:lpstr>KMeans</vt:lpstr>
      <vt:lpstr>Présentation PowerPoint</vt:lpstr>
      <vt:lpstr>Présentation PowerPoint</vt:lpstr>
      <vt:lpstr>Kmeans 4 clusters</vt:lpstr>
      <vt:lpstr>Kmeans 5 clusters</vt:lpstr>
      <vt:lpstr>Analyse des clusters</vt:lpstr>
      <vt:lpstr>Clusters</vt:lpstr>
      <vt:lpstr>Préconisations de pays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ALVAREZ Arthur</dc:creator>
  <cp:lastModifiedBy>arthur Alvarez</cp:lastModifiedBy>
  <cp:revision>6</cp:revision>
  <dcterms:created xsi:type="dcterms:W3CDTF">2026-05-24T11:17:15Z</dcterms:created>
  <dcterms:modified xsi:type="dcterms:W3CDTF">2026-07-28T11:51:32Z</dcterms:modified>
</cp:coreProperties>
</file>